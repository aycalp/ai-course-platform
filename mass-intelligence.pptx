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2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3249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Key point: introduce the Mollick article and the scale of what we are talking about. ChatGPT alone has over 700 million weekly users. This is not a niche technology anymore.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2. Mollick identifies two barriers that kept powerful AI out of most people's hands: confusion about which model to use, and cost. Both are now collapsing. Less than 7% of paying customers used the best models before GPT-5 launched. Ask students: did you know which model to pick before this course?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3. The key empirical point: the cost of running AI has fallen by more than 99% in two years. GPT-4 cost $50 per million tokens. GPT-5 Nano costs 14 cents per million tokens and outperforms the original GPT-4. This is why free access to powerful AI is now economically possible — not a policy decision, but a cost collapse.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4. Close the reading discussion with Mollick's core claim: this is not just a new tool, it is a shift in who has access to intelligence-augmentation. The reflection prompt is what students submit before next week. Remind them: minimum 80 words, record of thinking, not a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A4080">
              <a:alpha val="50000"/>
            </a:srgbClr>
          </a:solidFill>
          <a:ln w="12700">
            <a:solidFill>
              <a:srgbClr val="0A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2286000"/>
            <a:ext cx="2286000" cy="2286000"/>
          </a:xfrm>
          <a:prstGeom prst="ellipse">
            <a:avLst/>
          </a:prstGeom>
          <a:solidFill>
            <a:srgbClr val="CC0000">
              <a:alpha val="30000"/>
            </a:srgbClr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READING · ONE USEFUL THING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 Intelligence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6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is getting access to powerful AI — and it is changing faster than most people realise.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109728" cy="10972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09067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Ethan Mollick · Wharton School · oneusefulthing.org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329184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0" y="33375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1B+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943600" y="4069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now use AI chatbots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POWERFUL AI WAS HARD TO ACCESS — UNTIL NOW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barriers — now falling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6E0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502920" cy="502920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3898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users did not know which AI model to choose.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o3 in ChatGPT gives access to an excellent reasoning model. Picking 4o — which looks like a higher number — gives something far less capable.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less than 7% of paying customers used the best models on a regular basis.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6E0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83480" y="1371600"/>
            <a:ext cx="502920" cy="5029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0" y="13898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83480" y="20116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models required $20–$200 per month.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users were given access only to older, weaker models that made more mistakes and had limited use for complex work.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almost none of the free users had regular access to reasoning models before mid-2025.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Economics of AI Are Collapsing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marginal cost of serving each additional user has dropped to near zero.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11480" y="1600200"/>
            <a:ext cx="2697480" cy="3108960"/>
          </a:xfrm>
          <a:prstGeom prst="roundRect">
            <a:avLst>
              <a:gd name="adj" fmla="val 4746"/>
            </a:avLst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7373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11480" y="2697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D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1M tokens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60120" y="3108960"/>
            <a:ext cx="1600200" cy="27432"/>
          </a:xfrm>
          <a:prstGeom prst="rect">
            <a:avLst/>
          </a:prstGeom>
          <a:solidFill>
            <a:srgbClr val="ADBCD4">
              <a:alpha val="40000"/>
            </a:srgbClr>
          </a:solidFill>
          <a:ln w="12700">
            <a:solidFill>
              <a:srgbClr val="AD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2004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when GPT-4 launched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8862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D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600200"/>
            <a:ext cx="2697480" cy="3108960"/>
          </a:xfrm>
          <a:prstGeom prst="roundRect">
            <a:avLst>
              <a:gd name="adj" fmla="val 4746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7373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14¢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3291840" y="2697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D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1M tokens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0480" y="3108960"/>
            <a:ext cx="1600200" cy="27432"/>
          </a:xfrm>
          <a:prstGeom prst="rect">
            <a:avLst/>
          </a:prstGeom>
          <a:solidFill>
            <a:srgbClr val="ADBCD4">
              <a:alpha val="40000"/>
            </a:srgbClr>
          </a:solidFill>
          <a:ln w="12700">
            <a:solidFill>
              <a:srgbClr val="AD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0" y="32004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GPT-5 Nano today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38862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D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1600200"/>
            <a:ext cx="2697480" cy="3108960"/>
          </a:xfrm>
          <a:prstGeom prst="roundRect">
            <a:avLst>
              <a:gd name="adj" fmla="val 4746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72200" y="17373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33×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6172200" y="2697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D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efficiency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3108960"/>
            <a:ext cx="1600200" cy="27432"/>
          </a:xfrm>
          <a:prstGeom prst="rect">
            <a:avLst/>
          </a:prstGeom>
          <a:solidFill>
            <a:srgbClr val="ADBCD4">
              <a:alpha val="40000"/>
            </a:srgbClr>
          </a:solidFill>
          <a:ln w="12700">
            <a:solidFill>
              <a:srgbClr val="AD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72200" y="32004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per prompt in one year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38862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D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2024–25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70916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a billion people can now run prompts that would have cost dollars just two years ago.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a billion people have this?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Mollick argues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256032" cy="256032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66420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AI is becoming as accessible as a Google search — but most people still don't know how to use it well.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496312"/>
            <a:ext cx="256032" cy="256032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analogy is not humans. AI is an alien intelligence with a jagged profile — superhuman at some tasks, surprisingly weak at others.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300984"/>
            <a:ext cx="256032" cy="256032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27355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billion people have access, unpredictable things happen simultaneously — both helpful and harmful.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4105656"/>
            <a:ext cx="256032" cy="256032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4078224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using AI at all may soon be as limiting as not using the internet.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143000"/>
            <a:ext cx="4023360" cy="3749040"/>
          </a:xfrm>
          <a:prstGeom prst="roundRect">
            <a:avLst>
              <a:gd name="adj" fmla="val 3415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1280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reflection prompt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37760" y="1719072"/>
            <a:ext cx="347472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1828800"/>
            <a:ext cx="3611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paragraph.</a:t>
            </a:r>
            <a:endParaRPr lang="en-US" sz="1300" dirty="0"/>
          </a:p>
          <a:p>
            <a:pPr marL="0" indent="0">
              <a:lnSpc>
                <a:spcPct val="145000"/>
              </a:lnSpc>
              <a:buNone/>
            </a:pPr>
            <a:endParaRPr lang="en-US" sz="13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reading this article, what did you think AI was, and who had access to it?</a:t>
            </a:r>
            <a:endParaRPr lang="en-US" sz="1300" dirty="0"/>
          </a:p>
          <a:p>
            <a:pPr marL="0" indent="0">
              <a:lnSpc>
                <a:spcPct val="145000"/>
              </a:lnSpc>
              <a:buNone/>
            </a:pPr>
            <a:endParaRPr lang="en-US" sz="13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changed in your understanding after reading about Mass Intelligence?</a:t>
            </a:r>
            <a:endParaRPr lang="en-US" sz="1300" dirty="0"/>
          </a:p>
          <a:p>
            <a:pPr marL="0" indent="0">
              <a:lnSpc>
                <a:spcPct val="145000"/>
              </a:lnSpc>
              <a:buNone/>
            </a:pPr>
            <a:endParaRPr lang="en-US" sz="13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80 words. This is a record of your thinking, not a summary.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846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Ethan Mollick, 'Mass Intelligence,' One Useful Thing, August 2025 · oneusefulthing.org/p/mass-intelligence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650</Words>
  <Application>Microsoft Office PowerPoint</Application>
  <PresentationFormat>On-screen Show (16:9)</PresentationFormat>
  <Paragraphs>62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 Intelligence</dc:title>
  <dc:subject>PptxGenJS Presentation</dc:subject>
  <dc:creator>Ethan Mollick — One Useful Thing</dc:creator>
  <cp:lastModifiedBy>Ayca Alpman Uner</cp:lastModifiedBy>
  <cp:revision>1</cp:revision>
  <dcterms:created xsi:type="dcterms:W3CDTF">2026-06-28T15:38:07Z</dcterms:created>
  <dcterms:modified xsi:type="dcterms:W3CDTF">2026-06-28T15:43:59Z</dcterms:modified>
</cp:coreProperties>
</file>